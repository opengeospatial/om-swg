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62" r:id="rId5"/>
    <p:sldId id="404" r:id="rId6"/>
    <p:sldId id="405" r:id="rId7"/>
    <p:sldId id="348" r:id="rId8"/>
  </p:sldIdLst>
  <p:sldSz cx="18288000" cy="10287000"/>
  <p:notesSz cx="6858000" cy="9144000"/>
  <p:embeddedFontLst>
    <p:embeddedFont>
      <p:font typeface="Aptos SemiBold" panose="020B0004020202020204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3D8A3E-2763-BBE8-2B15-E74F1DB7656D}" name="Simon Chester" initials="SC" userId="S::schester@ogc.org::fefb1974-f0e7-428b-b44e-2b26a8de5167" providerId="AD"/>
  <p188:author id="{0933B96F-A88B-F1B0-C2BF-5C1F50CDD902}" name="Deepti Kala" initials="DK" userId="2b002ef7cfccb82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3BD3"/>
    <a:srgbClr val="EDF786"/>
    <a:srgbClr val="ECF456"/>
    <a:srgbClr val="1A31A0"/>
    <a:srgbClr val="1A2584"/>
    <a:srgbClr val="191CB5"/>
    <a:srgbClr val="191C71"/>
    <a:srgbClr val="261AEA"/>
    <a:srgbClr val="CAD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66" autoAdjust="0"/>
    <p:restoredTop sz="96197" autoAdjust="0"/>
  </p:normalViewPr>
  <p:slideViewPr>
    <p:cSldViewPr>
      <p:cViewPr varScale="1">
        <p:scale>
          <a:sx n="75" d="100"/>
          <a:sy n="75" d="100"/>
        </p:scale>
        <p:origin x="41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93" d="100"/>
          <a:sy n="93" d="100"/>
        </p:scale>
        <p:origin x="378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2EF98C-C3F1-EA29-7B47-8E3A0A8702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AF560-0EC2-50D5-DE42-C7440E243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8D1E4-4BBA-6F41-9D9B-7C498DFA1119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18C8C-72F6-C0BC-D6B9-F9F0ACDBD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F2DF8-0D80-D9E8-E1BF-F78D65111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D2C68-F934-1540-BB6F-D78EF71B2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94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ABE01-8AD2-744F-9651-CCC9DC857332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575CF-62AD-8041-932F-56D977C8C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0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s://www.linkedin.com/company/open-geospatial-consortium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hyperlink" Target="https://www.youtube.com/@opengeospatial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bg>
      <p:bgPr>
        <a:solidFill>
          <a:srgbClr val="1A25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1DD0F2-3B07-4CD9-C9D4-BD9759019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024" y="0"/>
            <a:ext cx="18361023" cy="10287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309EC5-8A84-9079-0A32-DD694DDB84E2}"/>
              </a:ext>
            </a:extLst>
          </p:cNvPr>
          <p:cNvSpPr/>
          <p:nvPr userDrawn="1"/>
        </p:nvSpPr>
        <p:spPr>
          <a:xfrm>
            <a:off x="762000" y="8343900"/>
            <a:ext cx="152400" cy="121920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0D2371B-9266-15FA-FC2A-1708C7327F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1878" y="4229100"/>
            <a:ext cx="9525000" cy="2209800"/>
          </a:xfrm>
        </p:spPr>
        <p:txBody>
          <a:bodyPr anchor="ctr">
            <a:noAutofit/>
          </a:bodyPr>
          <a:lstStyle>
            <a:lvl1pPr marL="0" indent="0">
              <a:lnSpc>
                <a:spcPts val="7340"/>
              </a:lnSpc>
              <a:buNone/>
              <a:defRPr sz="75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OPEN GEOSPATIAL CONSORTIUM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BD5B0C9-DE43-2451-ECE2-D1E27B88CE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1878" y="3253711"/>
            <a:ext cx="4533901" cy="955104"/>
          </a:xfrm>
        </p:spPr>
        <p:txBody>
          <a:bodyPr anchor="t">
            <a:noAutofit/>
          </a:bodyPr>
          <a:lstStyle>
            <a:lvl1pPr marL="0" indent="0">
              <a:lnSpc>
                <a:spcPts val="7340"/>
              </a:lnSpc>
              <a:buNone/>
              <a:defRPr sz="133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GB" dirty="0"/>
              <a:t>OGC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D9D9D9-ACF1-FDFC-9EA3-26D0F3C2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600" y="8479631"/>
            <a:ext cx="5486400" cy="947738"/>
          </a:xfrm>
        </p:spPr>
        <p:txBody>
          <a:bodyPr anchor="b"/>
          <a:lstStyle>
            <a:lvl1pPr algn="l">
              <a:lnSpc>
                <a:spcPts val="3700"/>
              </a:lnSpc>
              <a:defRPr sz="25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PERSON</a:t>
            </a:r>
            <a:br>
              <a:rPr lang="en-US" dirty="0"/>
            </a:br>
            <a:r>
              <a:rPr lang="en-US" dirty="0"/>
              <a:t>YYYY/MM/DD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D6684FE-59EA-B16B-2A79-6A7F5F5A7A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328" y="547189"/>
            <a:ext cx="1154872" cy="115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4324800-CFC8-4CF1-B297-52EC07618FB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36436" y="9473536"/>
            <a:ext cx="622964" cy="622964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0E63C18-4494-429D-C7BD-8F1E6789EF1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838200" y="2322444"/>
            <a:ext cx="16598236" cy="6853503"/>
          </a:xfrm>
        </p:spPr>
        <p:txBody>
          <a:bodyPr anchor="t">
            <a:noAutofit/>
          </a:bodyPr>
          <a:lstStyle>
            <a:lvl1pPr marL="342900" indent="-342900">
              <a:buFont typeface="Arial" panose="020B0604020202020204" pitchFamily="34" charset="0"/>
              <a:buChar char="•"/>
              <a:defRPr sz="30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C4D061A-9182-0E47-58BB-139488971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80" y="555036"/>
            <a:ext cx="16573356" cy="916056"/>
          </a:xfrm>
        </p:spPr>
        <p:txBody>
          <a:bodyPr anchor="ctr"/>
          <a:lstStyle>
            <a:lvl1pPr>
              <a:lnSpc>
                <a:spcPts val="4100"/>
              </a:lnSpc>
              <a:defRPr sz="4200">
                <a:solidFill>
                  <a:srgbClr val="263BD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5ECD6-ECF9-90A5-110C-BF2E6CC263AA}"/>
              </a:ext>
            </a:extLst>
          </p:cNvPr>
          <p:cNvSpPr/>
          <p:nvPr userDrawn="1"/>
        </p:nvSpPr>
        <p:spPr>
          <a:xfrm rot="16200000">
            <a:off x="-178533" y="572374"/>
            <a:ext cx="1149261" cy="792193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75991E-3D80-1093-0B9E-40DD452E6206}"/>
              </a:ext>
            </a:extLst>
          </p:cNvPr>
          <p:cNvSpPr/>
          <p:nvPr userDrawn="1"/>
        </p:nvSpPr>
        <p:spPr>
          <a:xfrm>
            <a:off x="0" y="-4313"/>
            <a:ext cx="18288000" cy="10286999"/>
          </a:xfrm>
          <a:prstGeom prst="rect">
            <a:avLst/>
          </a:prstGeom>
          <a:gradFill flip="none" rotWithShape="1">
            <a:gsLst>
              <a:gs pos="8000">
                <a:srgbClr val="263BD3"/>
              </a:gs>
              <a:gs pos="80000">
                <a:srgbClr val="1A258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4B08F70-9A8A-1BA7-803F-99BBD0A32D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169" y="5981700"/>
            <a:ext cx="10867292" cy="3301612"/>
          </a:xfrm>
        </p:spPr>
        <p:txBody>
          <a:bodyPr anchor="t"/>
          <a:lstStyle>
            <a:lvl1pPr algn="l">
              <a:lnSpc>
                <a:spcPts val="8420"/>
              </a:lnSpc>
              <a:defRPr sz="9800" b="0" i="0" cap="none">
                <a:solidFill>
                  <a:srgbClr val="FFFFF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Main Subject Headline Click To Add Content</a:t>
            </a:r>
          </a:p>
        </p:txBody>
      </p:sp>
      <p:pic>
        <p:nvPicPr>
          <p:cNvPr id="9" name="Picture 8" descr="A green globe with blue and yellow lines&#10;&#10;Description automatically generated">
            <a:extLst>
              <a:ext uri="{FF2B5EF4-FFF2-40B4-BE49-F238E27FC236}">
                <a16:creationId xmlns:a16="http://schemas.microsoft.com/office/drawing/2014/main" id="{3ACEB540-D319-D15F-94E4-6EB8FA97C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13672" y="3225248"/>
            <a:ext cx="11601450" cy="7061752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3DC18C82-B48C-86A4-AE95-988D03A9D1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3736" y="482666"/>
            <a:ext cx="1010864" cy="10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22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bg>
      <p:bgPr>
        <a:solidFill>
          <a:srgbClr val="E1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A0BC1B-E121-22F6-EA4F-315A21DADD34}"/>
              </a:ext>
            </a:extLst>
          </p:cNvPr>
          <p:cNvSpPr/>
          <p:nvPr userDrawn="1"/>
        </p:nvSpPr>
        <p:spPr>
          <a:xfrm>
            <a:off x="0" y="-4313"/>
            <a:ext cx="18266434" cy="10286999"/>
          </a:xfrm>
          <a:prstGeom prst="rect">
            <a:avLst/>
          </a:prstGeom>
          <a:gradFill flip="none" rotWithShape="1">
            <a:gsLst>
              <a:gs pos="24000">
                <a:schemeClr val="bg1"/>
              </a:gs>
              <a:gs pos="100000">
                <a:srgbClr val="A3C3FF"/>
              </a:gs>
              <a:gs pos="77000">
                <a:srgbClr val="D3E4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978E1-8A8E-5738-7509-37BA651F49E3}"/>
              </a:ext>
            </a:extLst>
          </p:cNvPr>
          <p:cNvSpPr/>
          <p:nvPr userDrawn="1"/>
        </p:nvSpPr>
        <p:spPr>
          <a:xfrm>
            <a:off x="17527150" y="8420100"/>
            <a:ext cx="739284" cy="1862584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BAD72-8B13-ACB0-75FF-44382C60299A}"/>
              </a:ext>
            </a:extLst>
          </p:cNvPr>
          <p:cNvSpPr/>
          <p:nvPr userDrawn="1"/>
        </p:nvSpPr>
        <p:spPr>
          <a:xfrm>
            <a:off x="21566" y="8420100"/>
            <a:ext cx="9122434" cy="1921892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7C539DE-7351-F083-BA2A-B4218EFAE00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45447" y="9105900"/>
            <a:ext cx="2593108" cy="548831"/>
          </a:xfrm>
        </p:spPr>
        <p:txBody>
          <a:bodyPr>
            <a:noAutofit/>
          </a:bodyPr>
          <a:lstStyle>
            <a:lvl1pPr marL="0" indent="0">
              <a:buNone/>
              <a:defRPr sz="2800" b="1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err="1"/>
              <a:t>www.ogc.org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4B6E06-9D16-BF9D-CD4A-43497B2A63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14" y="3486090"/>
            <a:ext cx="7634039" cy="2495610"/>
          </a:xfrm>
        </p:spPr>
        <p:txBody>
          <a:bodyPr anchor="t"/>
          <a:lstStyle>
            <a:lvl1pPr algn="l">
              <a:lnSpc>
                <a:spcPts val="9900"/>
              </a:lnSpc>
              <a:defRPr sz="12300" b="0" i="0" cap="none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23" name="Graphic 22">
            <a:hlinkClick r:id="rId2"/>
            <a:extLst>
              <a:ext uri="{FF2B5EF4-FFF2-40B4-BE49-F238E27FC236}">
                <a16:creationId xmlns:a16="http://schemas.microsoft.com/office/drawing/2014/main" id="{5E80DEB9-7302-517D-D762-3B89B5331F4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3553" y="9115879"/>
            <a:ext cx="444357" cy="434969"/>
          </a:xfrm>
          <a:prstGeom prst="rect">
            <a:avLst/>
          </a:prstGeom>
        </p:spPr>
      </p:pic>
      <p:pic>
        <p:nvPicPr>
          <p:cNvPr id="25" name="Graphic 24">
            <a:hlinkClick r:id="rId4"/>
            <a:extLst>
              <a:ext uri="{FF2B5EF4-FFF2-40B4-BE49-F238E27FC236}">
                <a16:creationId xmlns:a16="http://schemas.microsoft.com/office/drawing/2014/main" id="{A4425F64-9AB7-B578-8507-9BE7A01DC9D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2188" y="9132679"/>
            <a:ext cx="610165" cy="43496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F3DD-E3F8-963A-7CE5-12FE73E6470F}"/>
              </a:ext>
            </a:extLst>
          </p:cNvPr>
          <p:cNvCxnSpPr/>
          <p:nvPr userDrawn="1"/>
        </p:nvCxnSpPr>
        <p:spPr>
          <a:xfrm>
            <a:off x="7288658" y="9041162"/>
            <a:ext cx="0" cy="623548"/>
          </a:xfrm>
          <a:prstGeom prst="line">
            <a:avLst/>
          </a:prstGeom>
          <a:ln w="19050">
            <a:solidFill>
              <a:srgbClr val="7FAE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B234AFB3-C66F-E10A-4295-C25CBF9E14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447" y="591482"/>
            <a:ext cx="1154872" cy="1154872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2987B79-8C56-226E-FF8F-C1A6BFA690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0" y="4763"/>
            <a:ext cx="8383588" cy="841533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6983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4173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0" r:id="rId2"/>
    <p:sldLayoutId id="2147483667" r:id="rId3"/>
    <p:sldLayoutId id="2147483671" r:id="rId4"/>
  </p:sldLayoutIdLst>
  <p:txStyles>
    <p:titleStyle>
      <a:lvl1pPr algn="l" defTabSz="914400" rtl="0" eaLnBrk="1" latinLnBrk="0" hangingPunct="1">
        <a:lnSpc>
          <a:spcPts val="14620"/>
        </a:lnSpc>
        <a:spcBef>
          <a:spcPct val="0"/>
        </a:spcBef>
        <a:buNone/>
        <a:defRPr sz="6600" b="0" i="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1pPr>
      <a:lvl2pPr marL="914400" indent="-4572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2pPr>
      <a:lvl3pPr marL="12573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3pPr>
      <a:lvl4pPr marL="17145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4pPr>
      <a:lvl5pPr marL="21717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Noto Sans Medium" panose="020B0502040504020204" pitchFamily="34" charset="0"/>
          <a:cs typeface="Noto Sans Medium" panose="020B050204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umltool.ogc.org/index.php?m=7&amp;o=F77846A0-79E8-49c6-BE2B-746364E859BA" TargetMode="Externa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hyperlink" Target="https://umltool.ogc.org/index.php?m=7&amp;o=8D9FEA78-A796-4540-931C-148E0822455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hyperlink" Target="https://umltool.ogc.org/index.php?m=7&amp;o=E42A9B66-B200-4cd7-ADEE-9E8274137E02" TargetMode="External"/><Relationship Id="rId10" Type="http://schemas.openxmlformats.org/officeDocument/2006/relationships/image" Target="../media/image12.png"/><Relationship Id="rId4" Type="http://schemas.openxmlformats.org/officeDocument/2006/relationships/hyperlink" Target="https://umltool.ogc.org/index.php?m=7&amp;o=06371925-E02E-4ad5-9EC4-2FF94DC88358" TargetMode="Externa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geospatial/om-swg/blob/master/OMS%20Logical/readme.md" TargetMode="External"/><Relationship Id="rId2" Type="http://schemas.openxmlformats.org/officeDocument/2006/relationships/hyperlink" Target="https://files.ogc.org/external/file/5vnroc17c60cd4c284d639a1a308d1754ae79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8A4395-19E6-60A6-03CF-8026CD2C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OMS Logical</a:t>
            </a:r>
          </a:p>
        </p:txBody>
      </p:sp>
    </p:spTree>
    <p:extLst>
      <p:ext uri="{BB962C8B-B14F-4D97-AF65-F5344CB8AC3E}">
        <p14:creationId xmlns:p14="http://schemas.microsoft.com/office/powerpoint/2010/main" val="3448002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463919-F138-C13D-AC3B-D1066D1279D3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Modelling with full OMS</a:t>
            </a:r>
            <a:br>
              <a:rPr lang="en-US" dirty="0"/>
            </a:br>
            <a:r>
              <a:rPr lang="en-US" dirty="0"/>
              <a:t>model complex due to </a:t>
            </a:r>
            <a:br>
              <a:rPr lang="en-US" dirty="0"/>
            </a:br>
            <a:r>
              <a:rPr lang="en-US" dirty="0"/>
              <a:t>associations between </a:t>
            </a:r>
            <a:br>
              <a:rPr lang="en-US" dirty="0"/>
            </a:br>
            <a:r>
              <a:rPr lang="en-US" dirty="0"/>
              <a:t>model tiers.</a:t>
            </a:r>
          </a:p>
          <a:p>
            <a:r>
              <a:rPr lang="en-US" dirty="0"/>
              <a:t>OMS Logical provides a </a:t>
            </a:r>
            <a:br>
              <a:rPr lang="en-US" dirty="0"/>
            </a:br>
            <a:r>
              <a:rPr lang="en-US" dirty="0"/>
              <a:t>flattened version of </a:t>
            </a:r>
            <a:br>
              <a:rPr lang="en-US" dirty="0"/>
            </a:br>
            <a:r>
              <a:rPr lang="en-US" dirty="0"/>
              <a:t>OMS, all associations at </a:t>
            </a:r>
            <a:br>
              <a:rPr lang="en-US" dirty="0"/>
            </a:br>
            <a:r>
              <a:rPr lang="en-US" dirty="0"/>
              <a:t>this level:</a:t>
            </a:r>
          </a:p>
          <a:p>
            <a:pPr lvl="1"/>
            <a:r>
              <a:rPr lang="en-US" dirty="0">
                <a:hlinkClick r:id="rId2"/>
              </a:rPr>
              <a:t>Observation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Sampling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Monitoring</a:t>
            </a:r>
            <a:br>
              <a:rPr lang="en-US" dirty="0"/>
            </a:br>
            <a:r>
              <a:rPr lang="en-US" dirty="0"/>
              <a:t>(Abstracted from </a:t>
            </a:r>
            <a:br>
              <a:rPr lang="en-US" dirty="0"/>
            </a:br>
            <a:r>
              <a:rPr lang="en-US" dirty="0"/>
              <a:t>INSPIRE Environmental </a:t>
            </a:r>
            <a:br>
              <a:rPr lang="en-US" dirty="0"/>
            </a:br>
            <a:r>
              <a:rPr lang="en-US" dirty="0"/>
              <a:t>Monitoring Facilities)</a:t>
            </a:r>
          </a:p>
          <a:p>
            <a:pPr lvl="1"/>
            <a:r>
              <a:rPr lang="en-US" dirty="0">
                <a:hlinkClick r:id="rId5"/>
              </a:rPr>
              <a:t>Extended Monitoring </a:t>
            </a:r>
            <a:br>
              <a:rPr lang="en-US" dirty="0"/>
            </a:br>
            <a:r>
              <a:rPr lang="en-US" dirty="0"/>
              <a:t>(all attributes optional)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526AA9-C2B7-F988-4F37-37F30894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OMS Logical</a:t>
            </a:r>
          </a:p>
        </p:txBody>
      </p:sp>
      <p:pic>
        <p:nvPicPr>
          <p:cNvPr id="10" name="Google Shape;62;p14">
            <a:extLst>
              <a:ext uri="{FF2B5EF4-FFF2-40B4-BE49-F238E27FC236}">
                <a16:creationId xmlns:a16="http://schemas.microsoft.com/office/drawing/2014/main" id="{67E1ABF6-BEAE-B1CA-B203-6378EC54334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26345" y="3094100"/>
            <a:ext cx="13061654" cy="683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63;p14">
            <a:extLst>
              <a:ext uri="{FF2B5EF4-FFF2-40B4-BE49-F238E27FC236}">
                <a16:creationId xmlns:a16="http://schemas.microsoft.com/office/drawing/2014/main" id="{C65105B9-9C7E-D26D-5789-0435ED6A9E70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32601" y="1121550"/>
            <a:ext cx="12855402" cy="9165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64;p14">
            <a:extLst>
              <a:ext uri="{FF2B5EF4-FFF2-40B4-BE49-F238E27FC236}">
                <a16:creationId xmlns:a16="http://schemas.microsoft.com/office/drawing/2014/main" id="{4C0EA3CE-04C2-9027-148D-454DD22D4C9A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86424" y="1"/>
            <a:ext cx="12701556" cy="10287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65;p14">
            <a:extLst>
              <a:ext uri="{FF2B5EF4-FFF2-40B4-BE49-F238E27FC236}">
                <a16:creationId xmlns:a16="http://schemas.microsoft.com/office/drawing/2014/main" id="{F67F5357-45C1-5797-8074-F13482988719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26350" y="1944911"/>
            <a:ext cx="13061652" cy="8342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66;p14">
            <a:extLst>
              <a:ext uri="{FF2B5EF4-FFF2-40B4-BE49-F238E27FC236}">
                <a16:creationId xmlns:a16="http://schemas.microsoft.com/office/drawing/2014/main" id="{66599D25-34EA-B3A9-24D5-39448204F3B0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96023" y="1121550"/>
            <a:ext cx="11991978" cy="9165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67;p14">
            <a:extLst>
              <a:ext uri="{FF2B5EF4-FFF2-40B4-BE49-F238E27FC236}">
                <a16:creationId xmlns:a16="http://schemas.microsoft.com/office/drawing/2014/main" id="{B24DE6C3-C170-3F46-7113-D8E47E02A458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66501" y="4144200"/>
            <a:ext cx="11821502" cy="61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FCBFFC0-D6FB-9ABB-830F-E886E7667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730" y="1111052"/>
            <a:ext cx="12788269" cy="917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29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54C11F-5F02-9BA6-A43A-4DDC48D0CBB5}"/>
              </a:ext>
            </a:extLst>
          </p:cNvPr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r>
              <a:rPr lang="en-US" dirty="0"/>
              <a:t>OMS Logical Draft available from </a:t>
            </a:r>
            <a:r>
              <a:rPr lang="en-US" dirty="0">
                <a:hlinkClick r:id="rId2"/>
              </a:rPr>
              <a:t>Pending</a:t>
            </a:r>
            <a:r>
              <a:rPr lang="en-US" dirty="0"/>
              <a:t> and </a:t>
            </a:r>
            <a:r>
              <a:rPr lang="en-US" dirty="0">
                <a:hlinkClick r:id="rId3"/>
              </a:rPr>
              <a:t>OMS GitHub</a:t>
            </a:r>
            <a:endParaRPr lang="en-US" dirty="0"/>
          </a:p>
          <a:p>
            <a:r>
              <a:rPr lang="en-US" dirty="0"/>
              <a:t>1:1 implementation of OMS </a:t>
            </a:r>
          </a:p>
          <a:p>
            <a:r>
              <a:rPr lang="en-US" dirty="0"/>
              <a:t>Document Structure: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Scope: relation to OMS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Conformance: Boilerplate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References: from OMS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Terms and Definitions: from OMS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Conventions: Boilerplate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Applying this model (informative): what it says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Fundamental characteristics of observations and samples (informative): mostly notes and examples from OMS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- 11. Models: Observation, Sampling, Monitoring, Monitoring Extended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sz="2400" dirty="0"/>
              <a:t>ATS (while seemingly superficial, a 1:1 copy from OMS!)</a:t>
            </a:r>
          </a:p>
          <a:p>
            <a:pPr marL="914400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Foundation for current TSML update (as well as other OMS based standards, e.g. </a:t>
            </a:r>
            <a:r>
              <a:rPr lang="en-US" dirty="0" err="1"/>
              <a:t>WaterML</a:t>
            </a:r>
            <a:r>
              <a:rPr lang="en-US" dirty="0"/>
              <a:t> 2.0, </a:t>
            </a:r>
            <a:r>
              <a:rPr lang="en-US" dirty="0" err="1"/>
              <a:t>GeoSciML</a:t>
            </a:r>
            <a:r>
              <a:rPr lang="en-US" dirty="0"/>
              <a:t>, GloSIS</a:t>
            </a:r>
            <a:r>
              <a:rPr lang="en-US"/>
              <a:t>, etc.)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6BC696-7F88-455C-CCA9-87091501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OMS Logical</a:t>
            </a:r>
          </a:p>
        </p:txBody>
      </p:sp>
    </p:spTree>
    <p:extLst>
      <p:ext uri="{BB962C8B-B14F-4D97-AF65-F5344CB8AC3E}">
        <p14:creationId xmlns:p14="http://schemas.microsoft.com/office/powerpoint/2010/main" val="57953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02F8C8-9474-DBA6-5C09-FB0084C5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Aptos SemiBold" panose="020B0004020202020204" pitchFamily="34" charset="0"/>
              </a:rPr>
              <a:t>www.ogc.org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C2607-90B6-1BE6-26DA-96BD3BC7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761" y="3490404"/>
            <a:ext cx="6110039" cy="3306192"/>
          </a:xfrm>
        </p:spPr>
        <p:txBody>
          <a:bodyPr/>
          <a:lstStyle/>
          <a:p>
            <a:pPr>
              <a:lnSpc>
                <a:spcPts val="9800"/>
              </a:lnSpc>
            </a:pPr>
            <a:r>
              <a:rPr lang="en-US" sz="12300" dirty="0">
                <a:latin typeface="Aptos"/>
              </a:rPr>
              <a:t>THANK YOU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99034441-C71F-F0B9-C2CF-43904F4FF5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269384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sktop version - PPT MASTER" id="{7FEBD1E3-3883-9049-8AF0-44F39D7ACA2B}" vid="{45FF2EAE-8C52-A747-9309-B2C3AB4E5F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d591f4a-b750-44ad-8ebf-06d36ba90675" xsi:nil="true"/>
    <lcf76f155ced4ddcb4097134ff3c332f xmlns="d6fbc86c-d850-4140-ac77-9d31bd829bd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13" ma:contentTypeDescription="Create a new document." ma:contentTypeScope="" ma:versionID="0a4033e78b75580e944694f4110b9443">
  <xsd:schema xmlns:xsd="http://www.w3.org/2001/XMLSchema" xmlns:xs="http://www.w3.org/2001/XMLSchema" xmlns:p="http://schemas.microsoft.com/office/2006/metadata/properties" xmlns:ns2="d6fbc86c-d850-4140-ac77-9d31bd829bdd" xmlns:ns3="9d591f4a-b750-44ad-8ebf-06d36ba90675" targetNamespace="http://schemas.microsoft.com/office/2006/metadata/properties" ma:root="true" ma:fieldsID="efd5ec2613c3be04dd453b3842ae1d37" ns2:_="" ns3:_="">
    <xsd:import namespace="d6fbc86c-d850-4140-ac77-9d31bd829bdd"/>
    <xsd:import namespace="9d591f4a-b750-44ad-8ebf-06d36ba906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2e216777-a1e1-495c-93e8-2566215d52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91f4a-b750-44ad-8ebf-06d36ba9067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77d112-1c04-4fa5-a3ca-824683e69c49}" ma:internalName="TaxCatchAll" ma:showField="CatchAllData" ma:web="9d591f4a-b750-44ad-8ebf-06d36ba906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schemas.microsoft.com/office/infopath/2007/PartnerControls"/>
    <ds:schemaRef ds:uri="9d591f4a-b750-44ad-8ebf-06d36ba90675"/>
    <ds:schemaRef ds:uri="d6fbc86c-d850-4140-ac77-9d31bd829bdd"/>
  </ds:schemaRefs>
</ds:datastoreItem>
</file>

<file path=customXml/itemProps2.xml><?xml version="1.0" encoding="utf-8"?>
<ds:datastoreItem xmlns:ds="http://schemas.openxmlformats.org/officeDocument/2006/customXml" ds:itemID="{311F3D4D-EBA0-40F5-94E2-7634A01ED3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fbc86c-d850-4140-ac77-9d31bd829bdd"/>
    <ds:schemaRef ds:uri="9d591f4a-b750-44ad-8ebf-06d36ba906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1358</TotalTime>
  <Words>182</Words>
  <Application>Microsoft Office PowerPoint</Application>
  <PresentationFormat>Custom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 SemiBold</vt:lpstr>
      <vt:lpstr>Aptos Display</vt:lpstr>
      <vt:lpstr>Aptos</vt:lpstr>
      <vt:lpstr>Calibri</vt:lpstr>
      <vt:lpstr>Arial</vt:lpstr>
      <vt:lpstr>Office Theme</vt:lpstr>
      <vt:lpstr>OMS Logical</vt:lpstr>
      <vt:lpstr>OMS Logical</vt:lpstr>
      <vt:lpstr>OMS Logical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Simmons</dc:creator>
  <cp:lastModifiedBy>Kathi Schleidt</cp:lastModifiedBy>
  <cp:revision>38</cp:revision>
  <dcterms:created xsi:type="dcterms:W3CDTF">2025-04-29T18:14:43Z</dcterms:created>
  <dcterms:modified xsi:type="dcterms:W3CDTF">2026-08-25T13:29:58Z</dcterms:modified>
  <dc:identifier>DAGYbemYEzg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</Properties>
</file>